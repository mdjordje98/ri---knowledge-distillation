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698A2633-16B2-4A7F-A6BF-6B6BCB9C5F0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2748EE3-7A95-450F-B32D-6D56A416DD4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 smtClean="0"/>
              <a:t>Knowledge Distillation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91000"/>
            <a:ext cx="4953000" cy="1461538"/>
          </a:xfrm>
        </p:spPr>
        <p:txBody>
          <a:bodyPr>
            <a:normAutofit/>
          </a:bodyPr>
          <a:lstStyle/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Predmet: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Računarska inteligencija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Autor: Đorđe Marinković 378/2020</a:t>
            </a:r>
          </a:p>
        </p:txBody>
      </p:sp>
    </p:spTree>
    <p:extLst>
      <p:ext uri="{BB962C8B-B14F-4D97-AF65-F5344CB8AC3E}">
        <p14:creationId xmlns:p14="http://schemas.microsoft.com/office/powerpoint/2010/main" val="56593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Šta</a:t>
            </a:r>
            <a:r>
              <a:rPr lang="en-US" dirty="0"/>
              <a:t> je Knowledge Distillation?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Prenos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znanja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velikog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teacher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modela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manji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student model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Student model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uči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imitacijom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teacher-a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Student koristi dark knowledge</a:t>
            </a:r>
          </a:p>
          <a:p>
            <a:endParaRPr lang="en-US" dirty="0"/>
          </a:p>
        </p:txBody>
      </p:sp>
      <p:pic>
        <p:nvPicPr>
          <p:cNvPr id="1026" name="Picture 2" descr="C:\Users\djordje\Desktop\ri prezentacija\789dc8143c0d2cabe1430bf9b0548f3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811" y="4318505"/>
            <a:ext cx="4750004" cy="236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32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Motivacija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Savremeni deep learning modeli imaju veliki broj parametara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Primena na uređajima sa ograničenim resursima je otežana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Cilj: smanjenje kompleksnosti modela uz očuvanje performansi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9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Rešenje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CIFAR – 10: 60000 kolor slika, 32x32 piksela, 10 klasa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Teacher model: 2.2 miliona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parametara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Treniran na transformisanom CIFAR-10 skupu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Tačnost 91% na test skupu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Student model: oko 175 hiljada parametara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Korišćeni Batch normalization, dropout i L2 regularizacija radi smanjena preprilagođavanja i stabilizovanja učenja</a:t>
            </a:r>
            <a:br>
              <a:rPr lang="sr-Latn-R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02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Student u</a:t>
                </a:r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či iz hard labels i soft targets koje generiše teacher</a:t>
                </a:r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vi-VN" b="1" dirty="0" smtClean="0">
                    <a:latin typeface="Times New Roman" pitchFamily="18" charset="0"/>
                    <a:cs typeface="Times New Roman" pitchFamily="18" charset="0"/>
                  </a:rPr>
                  <a:t>Hard loss:</a:t>
                </a:r>
                <a:r>
                  <a:rPr lang="vi-VN" dirty="0">
                    <a:latin typeface="Times New Roman" pitchFamily="18" charset="0"/>
                    <a:cs typeface="Times New Roman" pitchFamily="18" charset="0"/>
                  </a:rPr>
                  <a:t> cross-entropy između predikcija studenta i hard labels</a:t>
                </a:r>
              </a:p>
              <a:p>
                <a:r>
                  <a:rPr lang="vi-VN" b="1" dirty="0">
                    <a:latin typeface="Times New Roman" pitchFamily="18" charset="0"/>
                    <a:cs typeface="Times New Roman" pitchFamily="18" charset="0"/>
                  </a:rPr>
                  <a:t>Soft loss:</a:t>
                </a:r>
                <a:r>
                  <a:rPr lang="vi-VN" dirty="0">
                    <a:latin typeface="Times New Roman" pitchFamily="18" charset="0"/>
                    <a:cs typeface="Times New Roman" pitchFamily="18" charset="0"/>
                  </a:rPr>
                  <a:t> KL divergencija između soft targets teacher-a i predikcija studenta</a:t>
                </a:r>
                <a:r>
                  <a:rPr lang="vi-VN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 pri čemu su logiti omekšani sa temperaturom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𝑇</m:t>
                    </m:r>
                    <m:r>
                      <a:rPr lang="en-US" b="0" i="1" smtClean="0">
                        <a:latin typeface="Cambria Math"/>
                      </a:rPr>
                      <m:t>; </m:t>
                    </m:r>
                  </m:oMath>
                </a14:m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gubitak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se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dodatno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skalira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sa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r-Latn-R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sr-Latn-RS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sr-Latn-RS" b="1" dirty="0" smtClean="0">
                    <a:latin typeface="Times New Roman" pitchFamily="18" charset="0"/>
                    <a:cs typeface="Times New Roman" pitchFamily="18" charset="0"/>
                  </a:rPr>
                  <a:t>Ukupan </a:t>
                </a:r>
                <a:r>
                  <a:rPr lang="vi-VN" b="1" dirty="0" smtClean="0">
                    <a:latin typeface="Times New Roman" pitchFamily="18" charset="0"/>
                    <a:cs typeface="Times New Roman" pitchFamily="18" charset="0"/>
                  </a:rPr>
                  <a:t>loss</a:t>
                </a:r>
                <a:r>
                  <a:rPr lang="vi-VN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𝑠𝑡𝑢𝑑𝑒𝑛𝑡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​=</m:t>
                    </m:r>
                    <m:r>
                      <a:rPr lang="el-GR" i="1" dirty="0">
                        <a:latin typeface="Cambria Math"/>
                      </a:rPr>
                      <m:t>𝛼</m:t>
                    </m:r>
                    <m:r>
                      <a:rPr lang="en-US" b="0" i="1" dirty="0" smtClean="0">
                        <a:latin typeface="Cambria Math"/>
                      </a:rPr>
                      <m:t>∗</m:t>
                    </m:r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h𝑎𝑟𝑑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1−</m:t>
                        </m:r>
                        <m:r>
                          <a:rPr lang="el-GR" i="1" dirty="0">
                            <a:latin typeface="Cambria Math"/>
                          </a:rPr>
                          <m:t>𝛼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∗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𝑠𝑜𝑓𝑡</m:t>
                        </m:r>
                      </m:sub>
                    </m:sSub>
                  </m:oMath>
                </a14:m>
                <a:r>
                  <a:rPr lang="en-US" dirty="0"/>
                  <a:t>​</a:t>
                </a:r>
                <a:endParaRPr lang="vi-V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394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66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Eksperimentalni</a:t>
            </a:r>
            <a:r>
              <a:rPr lang="en-US" dirty="0" smtClean="0"/>
              <a:t> </a:t>
            </a:r>
            <a:r>
              <a:rPr lang="en-US" dirty="0" err="1" smtClean="0"/>
              <a:t>rezultati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đeno u Google Collabu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Korišćen Tensorflow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Student treniran na 80 epoha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Adam sa LR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0.001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Exponential decay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faktor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0.8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svakih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15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epoha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 = 5</a:t>
            </a:r>
          </a:p>
          <a:p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0.2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Batch size = 256</a:t>
            </a:r>
          </a:p>
        </p:txBody>
      </p:sp>
    </p:spTree>
    <p:extLst>
      <p:ext uri="{BB962C8B-B14F-4D97-AF65-F5344CB8AC3E}">
        <p14:creationId xmlns:p14="http://schemas.microsoft.com/office/powerpoint/2010/main" val="50507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Za </a:t>
                </a:r>
                <a14:m>
                  <m:oMath xmlns:m="http://schemas.openxmlformats.org/officeDocument/2006/math">
                    <m:r>
                      <a:rPr lang="sr-Latn-RS" i="1" dirty="0" smtClean="0">
                        <a:latin typeface="Cambria Math"/>
                        <a:cs typeface="Times New Roman" pitchFamily="18" charset="0"/>
                      </a:rPr>
                      <m:t>𝑇</m:t>
                    </m:r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=5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:\Users\djordje\Desktop\ri prezentacija\3a491a33a6e92327044f5a76e27a04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95600"/>
            <a:ext cx="662940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34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C:\Users\djordje\Desktop\ri prezentacija\943e92da82e05e45cbff7ed9a4fa58d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67000"/>
            <a:ext cx="5861437" cy="380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8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Dobijen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model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ta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čnošću oko 83% na test skupu</a:t>
            </a:r>
          </a:p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Bolji rezultati u odnosu na studenta koji je učio pod istim uslovima bez teachera i dobio 79% </a:t>
            </a:r>
          </a:p>
          <a:p>
            <a:endParaRPr lang="en-US" dirty="0"/>
          </a:p>
        </p:txBody>
      </p:sp>
      <p:pic>
        <p:nvPicPr>
          <p:cNvPr id="3074" name="Picture 2" descr="C:\Users\djordje\Desktop\ri prezentacija\fae370a1b182422163f964e5bac4254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91000"/>
            <a:ext cx="3409197" cy="250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djordje\Desktop\ri prezentacija\b46d3b947940ebb501882bbe35c6723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244055"/>
            <a:ext cx="3217690" cy="236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19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Student without kd se preprilagođava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C:\Users\djordje\Desktop\ri prezentacija\ad73866d238bfbe26d2f118eff35a15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00400"/>
            <a:ext cx="3944365" cy="303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djordje\Desktop\ri prezentacija\16cdded5fb99c080a7049f66bb9d3f7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093" y="3228109"/>
            <a:ext cx="4215509" cy="305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77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Zaključak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Student postiže bolje rezultate kada koristi knowledge distillation nego kada uči sam</a:t>
                </a:r>
              </a:p>
              <a:p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3-4% razlike u tačnosti </a:t>
                </a:r>
              </a:p>
              <a:p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12 puta manji model u odnosu na teachera</a:t>
                </a:r>
              </a:p>
              <a:p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Gubitak od 8% na tačnosti</a:t>
                </a:r>
              </a:p>
              <a:p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Dalja unapređenja: eksperimentisanje sa </a:t>
                </a:r>
                <a14:m>
                  <m:oMath xmlns:m="http://schemas.openxmlformats.org/officeDocument/2006/math">
                    <m:r>
                      <a:rPr lang="sr-Latn-RS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 i </a:t>
                </a:r>
                <a:r>
                  <a:rPr lang="el-GR" dirty="0" smtClean="0">
                    <a:latin typeface="Times New Roman" pitchFamily="18" charset="0"/>
                    <a:cs typeface="Times New Roman" pitchFamily="18" charset="0"/>
                  </a:rPr>
                  <a:t>α</a:t>
                </a:r>
                <a:r>
                  <a:rPr lang="sr-Latn-RS" dirty="0" smtClean="0">
                    <a:latin typeface="Times New Roman" pitchFamily="18" charset="0"/>
                    <a:cs typeface="Times New Roman" pitchFamily="18" charset="0"/>
                  </a:rPr>
                  <a:t>, promena arhitekture student modela, učenje nad transformisanim CIFAR-10 podacima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52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Literatura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</a:t>
            </a:r>
            <a:r>
              <a:rPr lang="en-US" sz="1800" i="1" dirty="0"/>
              <a:t>. Hinton, G., </a:t>
            </a:r>
            <a:r>
              <a:rPr lang="en-US" sz="1800" i="1" dirty="0" err="1"/>
              <a:t>Vinyals</a:t>
            </a:r>
            <a:r>
              <a:rPr lang="en-US" sz="1800" i="1" dirty="0"/>
              <a:t>, O., &amp; Dean, J. (2015). Distilling the Knowledge in a Neural Network</a:t>
            </a:r>
            <a:r>
              <a:rPr lang="en-US" sz="1800" i="1" dirty="0" smtClean="0"/>
              <a:t>.</a:t>
            </a:r>
            <a:endParaRPr lang="sr-Latn-RS" sz="1800" i="1" dirty="0" smtClean="0"/>
          </a:p>
          <a:p>
            <a:r>
              <a:rPr lang="en-US" sz="1800" dirty="0" smtClean="0"/>
              <a:t>2</a:t>
            </a:r>
            <a:r>
              <a:rPr lang="en-US" sz="1800" i="1" dirty="0"/>
              <a:t>. Cho, J. H., &amp; </a:t>
            </a:r>
            <a:r>
              <a:rPr lang="en-US" sz="1800" i="1" dirty="0" err="1"/>
              <a:t>Hariharan</a:t>
            </a:r>
            <a:r>
              <a:rPr lang="en-US" sz="1800" i="1" dirty="0"/>
              <a:t>, B. (2019). On the Efficacy of Knowledge Distillation. </a:t>
            </a:r>
            <a:endParaRPr lang="sr-Latn-RS" sz="1800" i="1" dirty="0" smtClean="0"/>
          </a:p>
          <a:p>
            <a:r>
              <a:rPr lang="en-US" sz="1800" dirty="0" smtClean="0"/>
              <a:t>3</a:t>
            </a:r>
            <a:r>
              <a:rPr lang="en-US" sz="1800" i="1" dirty="0"/>
              <a:t>. Hernandez, D. E., Chang, J. R., &amp; </a:t>
            </a:r>
            <a:r>
              <a:rPr lang="en-US" sz="1800" i="1" dirty="0" err="1"/>
              <a:t>Nordling</a:t>
            </a:r>
            <a:r>
              <a:rPr lang="en-US" sz="1800" i="1" dirty="0"/>
              <a:t>, T. E. M. (2022). Model compression using knowledge distillation with integrated gradients. </a:t>
            </a:r>
            <a:endParaRPr lang="sr-Latn-RS" sz="1800" i="1" dirty="0" smtClean="0"/>
          </a:p>
          <a:p>
            <a:r>
              <a:rPr lang="en-US" sz="1800" dirty="0" smtClean="0"/>
              <a:t>4</a:t>
            </a:r>
            <a:r>
              <a:rPr lang="en-US" sz="1800" i="1" dirty="0"/>
              <a:t>. Frank, L., &amp; Davis, J. (2021). What Makes a Good Dataset for Knowledge Distillation</a:t>
            </a:r>
            <a:r>
              <a:rPr lang="en-US" sz="1800" i="1" dirty="0" smtClean="0"/>
              <a:t>?</a:t>
            </a:r>
            <a:endParaRPr lang="sr-Latn-RS" sz="1800" i="1" dirty="0" smtClean="0"/>
          </a:p>
          <a:p>
            <a:r>
              <a:rPr lang="en-US" sz="1800" dirty="0" smtClean="0"/>
              <a:t>5</a:t>
            </a:r>
            <a:r>
              <a:rPr lang="en-US" sz="1800" dirty="0"/>
              <a:t>. </a:t>
            </a:r>
            <a:r>
              <a:rPr lang="en-US" sz="1800" i="1" dirty="0"/>
              <a:t>https://www.ibm.com/think/topics/knowledge-distillation</a:t>
            </a:r>
          </a:p>
        </p:txBody>
      </p:sp>
    </p:spTree>
    <p:extLst>
      <p:ext uri="{BB962C8B-B14F-4D97-AF65-F5344CB8AC3E}">
        <p14:creationId xmlns:p14="http://schemas.microsoft.com/office/powerpoint/2010/main" val="49745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100</TotalTime>
  <Words>436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Urban</vt:lpstr>
      <vt:lpstr>Knowledge Distillation</vt:lpstr>
      <vt:lpstr>Šta je Knowledge Distillation?</vt:lpstr>
      <vt:lpstr>Motivacija</vt:lpstr>
      <vt:lpstr>Rešenje</vt:lpstr>
      <vt:lpstr>PowerPoint Presentation</vt:lpstr>
      <vt:lpstr>Eksperimentalni rezultati</vt:lpstr>
      <vt:lpstr>PowerPoint Presentation</vt:lpstr>
      <vt:lpstr>PowerPoint Presentation</vt:lpstr>
      <vt:lpstr>PowerPoint Presentation</vt:lpstr>
      <vt:lpstr>PowerPoint Presentation</vt:lpstr>
      <vt:lpstr>Zaključak</vt:lpstr>
      <vt:lpstr>Literatura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djordje</dc:creator>
  <cp:lastModifiedBy>djordje</cp:lastModifiedBy>
  <cp:revision>13</cp:revision>
  <dcterms:created xsi:type="dcterms:W3CDTF">2026-03-06T01:35:02Z</dcterms:created>
  <dcterms:modified xsi:type="dcterms:W3CDTF">2026-03-06T10:33:44Z</dcterms:modified>
</cp:coreProperties>
</file>